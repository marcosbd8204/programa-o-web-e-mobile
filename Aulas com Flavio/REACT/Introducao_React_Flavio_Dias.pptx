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15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lient=firefox-b-d&amp;q=React&amp;mstk=AUtExfApqEmm5e2XMUE7Za1kOgJJeapyFThIwj8_iRPswZEEbHvSO91_RQ9NEGSOBy5peDy6GPCacvAz-ymAYKEaIKnJUqR1MlplFx6Tm3h3JriMvjV_I9nClM5cdnnQTIFGk0A&amp;csui=3&amp;ved=2ahUKEwinv6Si-aGTAxUjErkGHUMfJysQgK4QegYIAQgAEAQ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t-br.react.dev/learn" TargetMode="External"/><Relationship Id="rId5" Type="http://schemas.openxmlformats.org/officeDocument/2006/relationships/hyperlink" Target="https://www.youtube.com/watch?v=FXqX7oof0I4" TargetMode="External"/><Relationship Id="rId4" Type="http://schemas.openxmlformats.org/officeDocument/2006/relationships/hyperlink" Target="https://youtu.be/SqcY0GlETPk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Construindo Interfaces Modernas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Flávio Dias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 | Ciência da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React?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biblioteca JavaScript para criar interfaces de usuário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pelo Facebook (Meta)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2013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 em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reutilizáveis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 e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das mais populares do mundo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React?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torna atualizações ultra-rápidas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3716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Componentização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 reutilizável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3716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Ecossistema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bibliotecas e ferramentas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2918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008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desenvolvedores no mundo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291840" y="3108960"/>
            <a:ext cx="256032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2918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7472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347472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código para web e mobile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26480" y="3108960"/>
            <a:ext cx="256032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29184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0936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Multiplataforma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630936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 desktop e mais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Ecossistema React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0" y="1828800"/>
            <a:ext cx="1828800" cy="1371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02366" y="2148094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02366" y="214809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2810" y="3362739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82810" y="336273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7738" y="2056406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47738" y="205640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93958" y="3246120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993958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Material-UI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73966" y="1097777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073966" y="1096783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1101586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86400" y="110158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3840480"/>
            <a:ext cx="1371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Componentes: </a:t>
            </a:r>
            <a:b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</a:b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Coração do React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6741" y="747486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pt-BR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blocos de construção reutilizáveis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é uma função ou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JavaScript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JSX (HTML + JavaScript)
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receber dados via props
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 estado interno (state)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60181" y="1474967"/>
            <a:ext cx="3840480" cy="3383280"/>
          </a:xfrm>
          <a:prstGeom prst="rect">
            <a:avLst/>
          </a:prstGeom>
          <a:solidFill>
            <a:srgbClr val="0147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943061" y="1749287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Botao({ texto }) {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className="btn"&gt;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{texto}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20AEEA-963B-72B3-62EF-8F19F3339E6F}"/>
              </a:ext>
            </a:extLst>
          </p:cNvPr>
          <p:cNvSpPr txBox="1"/>
          <p:nvPr/>
        </p:nvSpPr>
        <p:spPr>
          <a:xfrm>
            <a:off x="96741" y="4049236"/>
            <a:ext cx="4572000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dirty="0">
                <a:effectLst/>
              </a:rPr>
              <a:t>JSX (</a:t>
            </a:r>
            <a:r>
              <a:rPr lang="pt-BR" sz="1400" dirty="0" err="1">
                <a:effectLst/>
              </a:rPr>
              <a:t>JavaScript</a:t>
            </a:r>
            <a:r>
              <a:rPr lang="pt-BR" sz="1400" dirty="0">
                <a:effectLst/>
              </a:rPr>
              <a:t> XML)  </a:t>
            </a:r>
            <a:r>
              <a:rPr lang="pt-BR" sz="1400" dirty="0"/>
              <a:t>é uma extensão de sintaxe para </a:t>
            </a:r>
            <a:r>
              <a:rPr lang="pt-BR" sz="1400" dirty="0" err="1"/>
              <a:t>JavaScript</a:t>
            </a:r>
            <a:r>
              <a:rPr lang="pt-BR" sz="1400" dirty="0"/>
              <a:t>, popularizada pelo </a:t>
            </a:r>
            <a:r>
              <a:rPr lang="pt-BR" sz="1400" dirty="0" err="1">
                <a:hlinkClick r:id="rId3"/>
              </a:rPr>
              <a:t>React</a:t>
            </a:r>
            <a:r>
              <a:rPr lang="pt-BR" sz="1400" dirty="0"/>
              <a:t>, que permite escrever estruturas semelhantes a HTML diretamente no código JS.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JSX: JavaScript + XML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Tradicional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2926080"/>
          </a:xfrm>
          <a:prstGeom prst="rect">
            <a:avLst/>
          </a:prstGeom>
          <a:solidFill>
            <a:srgbClr val="0147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elemento = (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className="card"&gt;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&lt;h1&gt;Olá, Mundo!&lt;/h1&gt;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&lt;p&gt;Bem-vindo ao React&lt;/p&gt;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Puro (equivalente)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557129"/>
            <a:ext cx="3474720" cy="3014871"/>
          </a:xfrm>
          <a:prstGeom prst="rect">
            <a:avLst/>
          </a:prstGeom>
          <a:solidFill>
            <a:srgbClr val="0147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212080" y="18288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elemento = 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React.createElement(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'div',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className: 'card' },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React.createElement('h1',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null, 'Olá, Mundo!'),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React.createElement('p',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null, 'Bem-vindo')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Props e State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645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passados de pai para filho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Imutáveis (read-only)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unidirecional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1645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internos do componente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Mutável (pode mudar)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re-renderização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2377440"/>
          </a:xfrm>
          <a:prstGeom prst="rect">
            <a:avLst/>
          </a:prstGeom>
          <a:solidFill>
            <a:srgbClr val="0147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3143" y="27127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02C39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02C39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Contador({ valorInicial }) {  // Props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useState(valorInicial);  // State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onClick={() =&gt; setCount(count + 1)}&gt;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Cliques: {count}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Hooks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368" y="409095"/>
            <a:ext cx="919171" cy="9191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permitem usar state e </a:t>
            </a:r>
            <a:r>
              <a:rPr lang="en-US" sz="16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</a:t>
            </a: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(</a:t>
            </a:r>
            <a:r>
              <a:rPr lang="en-US" sz="16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sem classes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38404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estado ao componente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645920"/>
            <a:ext cx="38404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0" y="1645920"/>
            <a:ext cx="73152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7548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48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efeitos colaterais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38404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57200" y="2560320"/>
            <a:ext cx="73152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contexto React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0" y="2560320"/>
            <a:ext cx="38404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572000" y="256032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548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useReducer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548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estado complexo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38404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73152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400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useCallback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funções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0" y="3474720"/>
            <a:ext cx="38404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572000" y="3474720"/>
            <a:ext cx="73152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7548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useMemo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548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valores calculados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DOM: O Segredo da Performance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590258"/>
            <a:ext cx="18288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0" y="177313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047458"/>
            <a:ext cx="761999" cy="0"/>
          </a:xfrm>
          <a:prstGeom prst="line">
            <a:avLst/>
          </a:prstGeom>
          <a:noFill/>
          <a:ln w="38100">
            <a:solidFill>
              <a:srgbClr val="0147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800724" y="191029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14751"/>
                </a:solidFill>
              </a:rPr>
              <a:t>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0" y="1590258"/>
            <a:ext cx="182880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0" y="177313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2047458"/>
            <a:ext cx="914400" cy="0"/>
          </a:xfrm>
          <a:prstGeom prst="line">
            <a:avLst/>
          </a:prstGeom>
          <a:noFill/>
          <a:ln w="38100">
            <a:solidFill>
              <a:srgbClr val="0147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33322" y="1910298"/>
            <a:ext cx="3246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14751"/>
                </a:solidFill>
              </a:rPr>
              <a:t>➜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0" y="1590258"/>
            <a:ext cx="182880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58000" y="177313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Real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670313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pt-BR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cria uma cópia virtual da DOM na memória</a:t>
            </a:r>
            <a:endParaRPr lang="pt-BR" sz="1800" dirty="0"/>
          </a:p>
          <a:p>
            <a:pPr marL="342900" indent="-342900">
              <a:buSzPct val="100000"/>
              <a:buChar char="•"/>
            </a:pP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Quando o estado muda, cria um novo Virtual DOM</a:t>
            </a:r>
            <a:endParaRPr lang="pt-BR" sz="1800" dirty="0"/>
          </a:p>
          <a:p>
            <a:pPr marL="342900" indent="-342900">
              <a:buSzPct val="100000"/>
              <a:buChar char="•"/>
            </a:pP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Compara o novo Virtual DOM com o anterior (</a:t>
            </a:r>
            <a:r>
              <a:rPr lang="pt-BR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diffing</a:t>
            </a: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800" dirty="0"/>
          </a:p>
          <a:p>
            <a:pPr marL="342900" indent="-342900">
              <a:buSzPct val="100000"/>
              <a:buChar char="•"/>
            </a:pP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Atualiza APENAS o que mudou no DOM real</a:t>
            </a:r>
            <a:endParaRPr lang="pt-BR" sz="1800" dirty="0"/>
          </a:p>
          <a:p>
            <a:pPr marL="342900" indent="-342900">
              <a:buSzPct val="100000"/>
              <a:buChar char="•"/>
            </a:pP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Resultado: atualizações </a:t>
            </a:r>
            <a:r>
              <a:rPr lang="pt-BR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ultra-rápidas</a:t>
            </a:r>
            <a:r>
              <a:rPr lang="pt-BR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⚡</a:t>
            </a:r>
            <a:endParaRPr lang="pt-BR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4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no Mercado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294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4664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</a:t>
            </a:r>
            <a:r>
              <a:rPr lang="en-US" sz="1800" dirty="0" err="1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desenvolvedores</a:t>
            </a: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</a:t>
            </a: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</a:t>
            </a:r>
            <a:b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Survey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0326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230k+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96236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estrelas no GitHub</a:t>
            </a:r>
            <a:b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Software / Medium, 2025 – </a:t>
            </a:r>
            <a:r>
              <a:rPr lang="en-US" sz="1000" i="1" dirty="0" err="1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eSparkInfo</a:t>
            </a:r>
            <a:r>
              <a:rPr lang="en-US" sz="10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2026</a:t>
            </a:r>
            <a:b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20M+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416995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semanais (</a:t>
            </a:r>
            <a:r>
              <a:rPr lang="en-US" sz="1800" dirty="0" err="1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 algn="ctr">
              <a:buNone/>
            </a:pPr>
            <a:r>
              <a:rPr lang="en-US" sz="1000" i="1" dirty="0" err="1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NetGuru</a:t>
            </a:r>
            <a:r>
              <a:rPr lang="en-US" sz="10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r>
              <a:rPr lang="en-US" sz="10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/2025</a:t>
            </a:r>
            <a:endParaRPr lang="en-US" sz="10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Empresas que Usam React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13716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0" y="22860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Dropbox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32004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0" y="32004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94360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0" y="41148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576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20116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9436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Demonstração Prática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Tutorial: Primeiro App React</a:t>
            </a:r>
            <a:endParaRPr lang="en-US" sz="2200" dirty="0"/>
          </a:p>
        </p:txBody>
      </p:sp>
      <p:sp>
        <p:nvSpPr>
          <p:cNvPr id="5" name="Text 2">
            <a:hlinkClick r:id="rId4"/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https://www.youtube.com/watch?v=FXqX7oof0I4</a:t>
            </a:r>
            <a:endParaRPr lang="en-US" u="sng" dirty="0">
              <a:solidFill>
                <a:srgbClr val="0280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9260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oficial React (PT-BR)</a:t>
            </a:r>
            <a:endParaRPr lang="en-US" sz="1800" dirty="0"/>
          </a:p>
        </p:txBody>
      </p:sp>
      <p:sp>
        <p:nvSpPr>
          <p:cNvPr id="7" name="Text 4">
            <a:hlinkClick r:id="rId6"/>
          </p:cNvPr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https://pt-br.react.dev/learn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0175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Passos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Instalar Node.js e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https://nodejs.org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Criar seu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</a:t>
            </a: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14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npx create-react-app meu-app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Explorar a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https://pt-br.react.dev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Praticar com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Todo list, contador, formulários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Referências Acadêmicas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742660"/>
            <a:ext cx="8229600" cy="1292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A JavaScript library for building user interfaces. Disponível em: https://react.dev. Acesso em: 30 jan. 2026.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A.; PORCELLO, E.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React: Modern Patterns for Developing React Apps.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ed. O'Reilly Media, 2020.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WIERUCH, R.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React: Your journey to master plain yet pragmatic React.js.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Leanpub, 2023.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LARSEN, K.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in Action: With Suspense and Concurrent Mode.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Publications, 2021.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DEVELOPER NETWORK.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React. Disponível em: https://developer.mozilla.org/en-US/docs/Learn/Tools_and_testing/Client-side_JavaScript_frameworks/React_getting_started. Acesso em: 30 jan. 2026.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ABRAMOV, D.; CLARK, A.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Hooks. React Blog, 2019. Disponível em: https://legacy.reactjs.org/docs/hooks-intro.html. Acesso em: 30 jan. 2026.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Survey 2024. Disponível em: https://survey.stackoverflow.co/2024. Acesso em: 30 jan. 2026.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4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3716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Flávio Dias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C81C96-911F-49C2-AC51-81E603FB0F51}"/>
</file>

<file path=customXml/itemProps2.xml><?xml version="1.0" encoding="utf-8"?>
<ds:datastoreItem xmlns:ds="http://schemas.openxmlformats.org/officeDocument/2006/customXml" ds:itemID="{A17A537D-AA97-4ED1-9393-E7B50A5D42B7}"/>
</file>

<file path=customXml/itemProps3.xml><?xml version="1.0" encoding="utf-8"?>
<ds:datastoreItem xmlns:ds="http://schemas.openxmlformats.org/officeDocument/2006/customXml" ds:itemID="{E5BFB576-FEE3-4DC0-9F2B-0617BCF80B12}"/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930</Words>
  <Application>Microsoft Office PowerPoint</Application>
  <PresentationFormat>Apresentação na tela (16:9)</PresentationFormat>
  <Paragraphs>172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React</dc:title>
  <dc:subject>PptxGenJS Presentation</dc:subject>
  <dc:creator>Prof. Flávio Dias</dc:creator>
  <cp:lastModifiedBy>Flávio Dias</cp:lastModifiedBy>
  <cp:revision>13</cp:revision>
  <dcterms:created xsi:type="dcterms:W3CDTF">2026-01-30T11:26:18Z</dcterms:created>
  <dcterms:modified xsi:type="dcterms:W3CDTF">2026-03-15T20:06:11Z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