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2294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- DOM e Eventos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Manipulando HTML e Criando Interatividade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Web e </a:t>
            </a:r>
            <a: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b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800" i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Flávio Dias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o DOM?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FFF3CD"/>
          </a:solidFill>
          <a:ln w="381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 = Document Object Model (Modelo de Objeto do Documento)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4114800" cy="2697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35661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Representação da página HTML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como árvore de objetos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Permite JavaScript acessar 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modificar elementos HTML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Criado automaticamente pelo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navegador ao carregar a página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 uma API (Interface 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Programação) para documentos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2057400"/>
            <a:ext cx="3931920" cy="26974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em Árvore: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606040"/>
            <a:ext cx="35661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html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├─ head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  ├─ title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   └─ meta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└─ body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├─ h1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├─ 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└─ div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├─ button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└─ input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Selecionando Elementos do DOM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618789"/>
              </p:ext>
            </p:extLst>
          </p:nvPr>
        </p:nvGraphicFramePr>
        <p:xfrm>
          <a:off x="527437" y="1188720"/>
          <a:ext cx="8046720" cy="33832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92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27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Método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Descrição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Retorna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Exemplo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getElementById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Seleciona por ID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 elemento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document.getElementById('titulo')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querySelector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Seleciona por seletor CSS (primeiro)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 elemento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document.querySelector('.botao')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querySelectorAll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Seleciona por seletor CSS (todos)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NodeList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document.querySelectorAll('p')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getElementsByClassName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Seleciona por classe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HTMLCollection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document.getElementsByClassName('item')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getElementsByTagName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Seleciona por tag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HTMLCollection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document.getElementsByTagName('div')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Manipulando Conteúdo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74904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Propriedades: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innerHTML - HTML completo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titulo = document.getElementById('titulo');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titulo.innerHTML = '&lt;strong&gt;Novo&lt;/strong&gt; Título';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textContent - Apenas texto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titulo.textContent = 'Texto Simples';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value - Valor de inputs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input = document.querySelector('#nome');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input.value = 'João Silva';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Ler valores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console.log(titulo.innerHTML);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console.log(input.value);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426985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Diferenças: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1234440" cy="36576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Propriedade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1645920"/>
            <a:ext cx="1234440" cy="36576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 HTML?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0" y="1645920"/>
            <a:ext cx="1234440" cy="36576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2057400"/>
            <a:ext cx="12344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innerHTML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2057400"/>
            <a:ext cx="12344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0" y="2057400"/>
            <a:ext cx="12344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tags HTML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468880"/>
            <a:ext cx="12344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textContent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468880"/>
            <a:ext cx="12344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NÃO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0" y="2468880"/>
            <a:ext cx="12344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puro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880360"/>
            <a:ext cx="12344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2880360"/>
            <a:ext cx="12344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NÃO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0" y="2880360"/>
            <a:ext cx="123444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Inputs/textarea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59" y="3291840"/>
            <a:ext cx="3974327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 smtClean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US" sz="1000" b="1" dirty="0" err="1" smtClean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</a:t>
            </a:r>
            <a:r>
              <a:rPr lang="en-US" sz="1000" b="1" dirty="0" smtClean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innerHTML: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Pode ser vulnerável a </a:t>
            </a:r>
            <a:r>
              <a:rPr lang="en-US" sz="10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ataques</a:t>
            </a: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 </a:t>
            </a: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usar dados do usuário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Prefira textContent para </a:t>
            </a:r>
            <a:r>
              <a:rPr lang="en-US" sz="1000" dirty="0" err="1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r>
              <a:rPr lang="en-US" sz="1000" dirty="0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simples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0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 innerHTML </a:t>
            </a:r>
            <a:r>
              <a:rPr lang="en-US" sz="1000" b="1" dirty="0" err="1">
                <a:solidFill>
                  <a:srgbClr val="00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</a:t>
            </a:r>
            <a:r>
              <a:rPr lang="en-US" sz="1000" b="1" dirty="0">
                <a:solidFill>
                  <a:srgbClr val="00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 smtClean="0">
                <a:solidFill>
                  <a:srgbClr val="00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precisar</a:t>
            </a:r>
            <a:r>
              <a:rPr lang="en-US" sz="1000" b="1" dirty="0" smtClean="0">
                <a:solidFill>
                  <a:srgbClr val="00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</a:t>
            </a:r>
            <a:r>
              <a:rPr lang="en-US" sz="1000" dirty="0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HTML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Manipulando Estilos CSS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182880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Propriedade style: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03020"/>
            <a:ext cx="3749040" cy="1440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box = document.querySelector('.box');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Modificar estilos individuais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box.style.color = 'red';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box.style.backgroundColor = 'blue';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box.style.fontSize = '20px';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box.style.display = 'none';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CSS: background-color → JS: backgroundColor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971800"/>
            <a:ext cx="4114800" cy="17830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011557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classList (Melhor prática!):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325634"/>
            <a:ext cx="3749040" cy="1337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btn = document.querySelector('.botao');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btn.classList.add('ativo');       // Adiciona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btn.classList.remove('ativo');    // Remove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btn.classList.toggle('ativo');    // Alterna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btn.classList.contains('ativo'); // Verifica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Retorna true/false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287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vs classList: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411025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Modificar estilos inline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Valores dinâmicos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Mistura JS com CSS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Dificulta manutenção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classList (RECOMENDADO)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Mantém CSS separado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Mais organizado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Reutilizável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Fácil manutenção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.ativo { } no CSS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Adiciona/remove classe no JS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- Interatividade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são ações que acontecem na página (cliques, digitação, movimento do mouse, etc)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33832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08043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addEventListener (RECOMENDADO):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10577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Sintaxe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elemento.addEventListener('evento', função);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Exemplo 1: Função anônima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btn = document.querySelector('#botao');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btn.addEventListener('click', function()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alert('Clicou!');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Exemplo 2: Arrow function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btn.addEventListener('click', ()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console.log('Botão clicado!');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Exemplo 3: Função nomeada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handleClick()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console.log('Clique detectado');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btn.addEventListener('click', handleClick);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addEventListener?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96596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Pode adicionar múltiplos eventos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ao mesmo elemento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Separa JavaScript do HTML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(sem onclick no HTML)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Pode remover eventos depois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(removeEventListener)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Mais controle e flexibilidade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Evite onclick inline: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onclick="func()"&gt;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Prefira addEventListener: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btn.addEventListener('click', func);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Eventos Comuns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3383276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Evento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Quando Ocorre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Exemplo de Uso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click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Clique do mouse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Botões, links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dblclick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Clique duplo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Abrir modal, expandir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Valor do input muda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Busca em tempo real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change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Input perde foco após mudar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Select, checkbox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submit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Formulário enviado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Validação de forms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keypress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Tecla pressionada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Detectar Enter, Esc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keydown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Tecla sendo pressionada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Atalhos de teclado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keyup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Tecla solta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Validação enquanto digita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mouseover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Mouse passa sobre elemento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Tooltips, preview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mouseout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Mouse sai do elemento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Esconder tooltips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focus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Elemento recebe foco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Destacar input ativo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0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blur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Elemento perde foco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Validar campo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Criando e Removendo Elementos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74904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e Adicionar: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Criar elemento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novoP = document.createElement('p');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Definir conteúdo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novoP.textContent = 'Parágrafo novo!';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Adicionar classes/estilos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novoP.classList.add('destaque');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novoP.style.color = 'blue';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Adicionar ao DOM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container = document.querySelector('#container');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container.appendChild(novoP);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Exemplo completo: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li = document.createElement('li');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li.textContent = 'Item novo';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document.querySelector('ul').appendChild(li);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74904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Remover Elementos: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Método 1: remove()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elemento = document.querySelector('.item');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elemento.remove();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Método 2: removeChild()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pai = document.querySelector('#lista');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filho = document.querySelector('.item');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pai.removeChild(filho);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Remover todos os filhos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container.innerHTML = '';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Substituir elemento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novo = document.createElement('div');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antigo = document.querySelector('.old');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antigo.replaceWith(novo);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de Formulários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solidFill>
            <a:srgbClr val="E8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849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Completo: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150950"/>
            <a:ext cx="7863840" cy="3619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HTML: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&lt;form id="meuForm"&gt;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&lt;input id="nome" type="text"&gt;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&lt;input id="email" type="email"&gt;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&lt;button type="submit"&gt;Enviar&lt;/button&gt;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&lt;/form&gt;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JavaScript: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form = document.querySelector('#meuForm');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form.addEventListener('submit', function(event)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event.preventDefault();  // Impede </a:t>
            </a:r>
            <a:r>
              <a:rPr lang="en-US" sz="800" dirty="0" err="1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envio</a:t>
            </a: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00" dirty="0" err="1" smtClean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padrão</a:t>
            </a:r>
            <a:r>
              <a:rPr lang="en-US" sz="800" dirty="0" smtClean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Pegar valores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nome = document.querySelector('#nome').value;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email = document.querySelector('#email').value</a:t>
            </a:r>
            <a:r>
              <a:rPr lang="en-US" sz="800" dirty="0" smtClean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Validar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(nome === '')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alert('Nome é obrigatório!');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800" dirty="0" smtClean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00" dirty="0" smtClean="0"/>
          </a:p>
          <a:p>
            <a:pPr marL="0" indent="0">
              <a:buNone/>
            </a:pPr>
            <a:r>
              <a:rPr lang="en-US" sz="800" dirty="0" smtClean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r>
              <a:rPr lang="en-US" sz="800" dirty="0" smtClean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(!email.includes('@'))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alert('Email inválido!');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800" dirty="0" smtClean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800" dirty="0" smtClean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Se passou, processar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console.log('Formulário válido!', nome, email);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Prático - Lista de Tarefas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Adicionar tarefa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Input para nova tarefa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Botão ou Enter para adicionar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Marcar como concluída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Clique alterna estado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Adiciona/remove classe .done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Remover tarefa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Botão X para deletar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Remove elemento do DOM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Contador de tarefas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Mostra total/pendentes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Conceitos Usados: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60020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querySelector / querySelectorAll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addEventListener (click, keypress)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createElement / appendChild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classList.add / toggle / remove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remove() / removeChild()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value, textContent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Funções para organizar código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Boas Práticas com DOM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969026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 querySelector/querySelectorAll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Mais flexível que getElementById (aceita qualquer seletor CSS)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Prefira addEventListener ao onclick inline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Separa JavaScript do HTML, permite múltiplos eventos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Use classList ao invés de style quando possível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Define estilos no CSS, adiciona/remove classes no JS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Cache seleções DOM em variáveis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7680960" cy="495631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443246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✗ Ruim (busca 3 vezes)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document.querySelector('#box').style.color = 'red';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document.querySelector('#box').style.fontSize = '20px';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008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✓ Bom (busca 1 vez, reutiliza)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box = document.querySelector('#box');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box.style.color = 'red';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box.style.fontSize = '20px';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Valide dados antes de processar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Sempre verifique se campos obrigatórios estão preenchidos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da Aula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8412480" cy="347472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2588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DOM: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Árvore de objetos que representa a página HTML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Seleção: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querySelector, querySelectorAll, getElementById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Manipulação: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innerHTML, textContent, value, style, classList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Eventos: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addEventListener, click, input, submit, keypress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Criar/Remover: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createElement, appendChild, remove, removeChild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Parabéns! Você completou o módulo JavaScript! 🎉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22D2A192437014EB15729606CF2649F" ma:contentTypeVersion="7" ma:contentTypeDescription="Crie um novo documento." ma:contentTypeScope="" ma:versionID="72c82411141a5c6477fd26844196d284">
  <xsd:schema xmlns:xsd="http://www.w3.org/2001/XMLSchema" xmlns:xs="http://www.w3.org/2001/XMLSchema" xmlns:p="http://schemas.microsoft.com/office/2006/metadata/properties" xmlns:ns2="e054e46c-fd7e-4dc0-b65d-2a9a379c5fba" targetNamespace="http://schemas.microsoft.com/office/2006/metadata/properties" ma:root="true" ma:fieldsID="a40176d61270007612af080dbea1a3d1" ns2:_="">
    <xsd:import namespace="e054e46c-fd7e-4dc0-b65d-2a9a379c5f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54e46c-fd7e-4dc0-b65d-2a9a379c5f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2567B23-18E4-4DEA-8491-21AA00D2253E}"/>
</file>

<file path=customXml/itemProps2.xml><?xml version="1.0" encoding="utf-8"?>
<ds:datastoreItem xmlns:ds="http://schemas.openxmlformats.org/officeDocument/2006/customXml" ds:itemID="{4F233890-3593-4437-8ADB-D044CAF0204C}"/>
</file>

<file path=customXml/itemProps3.xml><?xml version="1.0" encoding="utf-8"?>
<ds:datastoreItem xmlns:ds="http://schemas.openxmlformats.org/officeDocument/2006/customXml" ds:itemID="{3C9CFD44-0507-4AEA-95DE-A1D4F475FF2A}"/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1304</Words>
  <Application>Microsoft Office PowerPoint</Application>
  <PresentationFormat>Apresentação na tela (16:9)</PresentationFormat>
  <Paragraphs>353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- DOM e Eventos</dc:title>
  <dc:subject>PptxGenJS Presentation</dc:subject>
  <dc:creator>Professor - Programação Web e Mobile</dc:creator>
  <cp:lastModifiedBy>Flávio Ricardo Dias de Souza</cp:lastModifiedBy>
  <cp:revision>4</cp:revision>
  <dcterms:created xsi:type="dcterms:W3CDTF">2026-03-04T13:51:09Z</dcterms:created>
  <dcterms:modified xsi:type="dcterms:W3CDTF">2026-03-04T16:31:14Z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0x010100F22D2A192437014EB15729606CF2649F</vt:lpwstr>
  </property>
</Properties>
</file>