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961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- Fundamentos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Variáveis, Tipos de Dados, Operadores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JavaScript?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programação: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Roda no navegador (client-side)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Torna páginas interativas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Manipula HTML e CSS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Responde a eventos do usuário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 formulários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 animações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Faz requisições ao servidor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Criada em 1995 por Brendan Eich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Simples: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HTML --&gt;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onclick="saudar()"&gt;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Clique Aqui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JavaScript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saudar()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alert('Olá, Mundo!');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Resultado: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Mostra uma janela com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mensagem 'Olá, Mundo!'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Inserir JavaScript no HTML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407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JavaScript Interno (na tag &lt;script&gt;):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5227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console.log('JavaScript interno');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alert('Olá!');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10972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61815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JavaScript Externo (arquivo .js separado - RECOMENDADO):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No HTML --&gt;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src="script.js"&gt;&lt;/script&gt;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arquivo script.js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JavaScript Inline (no elemento HTML - NÃO RECOMENDADO):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onclick="alert('Clicou!')"&gt;Clique&lt;/button&gt;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571999"/>
            <a:ext cx="8229600" cy="20540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MELHOR PRÁTICA: Sempre use arquivo .js externo e coloque o &lt;script&gt; antes do &lt;/body&gt;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- var, let, const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são 'caixas' para armazenar valores.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17221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Palavra-chave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Escopo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Pode Reatribuir?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Quando Usar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C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Global/Função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✅ SIM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❌ NÃO use (legado)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00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Bloco { }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✅ SIM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Valores que mudam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88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Bloco { }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❌ NÃO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Valores constantes (PADRÃO)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337560"/>
            <a:ext cx="7863840" cy="12801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3680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908730"/>
            <a:ext cx="7498080" cy="510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nome = 'João';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= 'Maria';         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OK - let permite reatribuição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PI = 3.14159;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 = 3.14;          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 - const não pode reatribuir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Dados - Primitivos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3383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Texto (entre aspas)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'João', "Maria", `Template`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Números (inteiros e decimais)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42, 3.14, -10, NaN, Infinity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Boolean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Verdadeiro ou Falso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true, false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Undefined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Variável declarada sem valor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let x;  // x é undefined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Ausência intencional de valor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let y = null;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Symbol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Valor único (avançado)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Symbol('id')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BigInt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Números muito grandes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9007199254740991n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Dados - Complexos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829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(Lista):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Declaração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frutas = ['maçã', 'banana', 'laranja'];</a:t>
            </a:r>
            <a:endParaRPr lang="en-US" sz="11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Acessar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console.log(frutas[0]);  // 'maçã'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console.log(frutas[1]);  // 'banana'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Tamanho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console.log(frutas.length);  //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14173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Coleção ordenada de valores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Índice começa em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Pode conter tipos mistos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Tamanho dinâmico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úteis: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push() - adicionar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pop() - remover último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length - tamanho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19"/>
            <a:ext cx="4114800" cy="1945419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(Objeto):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Declaração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pessoa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nome: 'João',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idade: 25,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cidade: 'Recife'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Acessar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console.log(pessoa.nome);     // 'João'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console.log(pessoa['idade']); // 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931920" cy="1945418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4975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Coleção de pares chave:valor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ordenado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Chaves são strings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Valores podem ser qualquer tipo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objeto.chave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objeto['chave']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Aritméticos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3749040" cy="35458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Operador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Adição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+ 3 → 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Subtração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5 - 3 → 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Multiplicação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* 3 → 15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Divisão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/ 2 → 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Módulo (resto)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10 % 3 → 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Exponenciação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** 3 → 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++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Incremento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x++ → x = x + 1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Decremento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x-- → x = x - 1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Práticos: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3776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10;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 = 3;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 + b);   // 13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 - b);   // 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 * b);   // 30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 / b);   // 3.333...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 % b);   // 1 (resto)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 ** b);  // 1000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a++;  // a = 11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b--;  // b = 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Concatenação de strings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nome = 'João' + ' ' + 'Silva';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'João Silva'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de Comparação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Retornam true ou false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863840" cy="3063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Operador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Significado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==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Igual (valor)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== '5'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88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===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Igual (valor e tipo)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=== '5'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!=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Diferente (valor)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!= '5'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!==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Diferente (valor e tipo)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!== '5'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88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Maior que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&gt; 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88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Menor que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&lt; 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88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&gt;=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Maior ou igual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&gt;= 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88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&lt;=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Menor ou igual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&lt;= 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88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Lógicos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Combinam expressões booleanas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3716572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3749040" cy="15240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Operador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Nome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&amp;&amp;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 (AND)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&amp;&amp; false → 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||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OU (OR)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|| false → 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NÃO (NOT)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!true → 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108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Verdade (&amp;&amp;):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109728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3383280"/>
            <a:ext cx="109728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08960" y="3383280"/>
            <a:ext cx="109728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&amp;&amp; B</a:t>
            </a:r>
            <a:endParaRPr lang="en-US" sz="1100" dirty="0"/>
          </a:p>
        </p:txBody>
      </p:sp>
      <p:sp>
        <p:nvSpPr>
          <p:cNvPr id="5" name="Text 7"/>
          <p:cNvSpPr/>
          <p:nvPr/>
        </p:nvSpPr>
        <p:spPr>
          <a:xfrm>
            <a:off x="731520" y="367588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367588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08960" y="367588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968496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20240" y="3968496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108960" y="3968496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4261104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4261104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108960" y="4261104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1520" y="4553712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920240" y="4553712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108960" y="4553712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1325880"/>
            <a:ext cx="3931920" cy="3716572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Práticos: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937760" y="1874520"/>
            <a:ext cx="3566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idade = 20;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temCarteira = true;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 (AND) - ambos precisam ser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(idade &gt;= 18 &amp;&amp; temCarteira)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console.log('Pode dirigir');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 (OR) - pelo menos um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(idade &lt; 12 || idade &gt; 65)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console.log('Desconto especial');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NÃO (NOT) - inverte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(!temCarteira)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console.log('Não pode dirigir');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console.log() - Depuração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mensagens no Console do navegador (F12)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518452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3753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Mensagens simples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console.log('Olá, Mundo!');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Variáveis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nome = 'João';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console.log(nome);  // 'João'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Múltiplos valores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10, y = 20;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console.log('x =', x, 'y =', y);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Expressões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console.log(5 + 3);  // 8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Objetos e Arrays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pessoa = {nome: 'Maria', idade: 25};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console.log(pessoa);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frutas = ['maçã', 'banana'];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console.log(frutas);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518452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Outros Métodos Console: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182880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1965960"/>
            <a:ext cx="155448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331720"/>
            <a:ext cx="18288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2331720"/>
            <a:ext cx="15544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normal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697480"/>
            <a:ext cx="18288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console.error()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2697480"/>
            <a:ext cx="15544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(vermelho)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18288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console.warn()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3063240"/>
            <a:ext cx="15544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(amarelo)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429000"/>
            <a:ext cx="18288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console.info()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3429000"/>
            <a:ext cx="15544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794760"/>
            <a:ext cx="18288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console.table()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3794760"/>
            <a:ext cx="15544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tabela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4160520"/>
            <a:ext cx="18288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console.clear()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4160520"/>
            <a:ext cx="15544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Limpar console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4119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Para ver o console: F12 → Aba 'Console'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Comentários em JavaScript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são ignorados pelo navegador. Servem para documentar o código.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20116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Comentário de Uma Linha: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Este é um comentário de uma linha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10;  // Declara variável x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console.log('Desabilitado');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Código comentado não executa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Comentário de Múltiplas Linhas: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Este é um comentário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 múltiplas linhas.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Útil para descrições longas.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*/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y = 20;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82296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comentários para explicar </a:t>
            </a: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(não o que o código faz)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Mantenha comentários atualizados com o código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Evite comentários óbvios: </a:t>
            </a:r>
            <a:r>
              <a:rPr lang="en-US" sz="1200" i="1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incrementa x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(ruim)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para desabilitar código temporariamente durante testes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940904"/>
            <a:ext cx="8412480" cy="381397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aula: Estruturas de Controle (if/else, loops) e Funções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JavaScript: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Linguagem de programação para web, torna páginas interativas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Variáveis: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let (mutável), const (constante) - evite var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Tipos de Dados: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Primitivos (string, number, boolean), Complexos (array, object)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Operadores: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Aritméticos (+, -, *, /), Comparação (==, ===, &gt;, &lt;), Lógicos (&amp;&amp;, ||, !)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console.log():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Exibir mensagens no console para depuração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Comentários: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// uma linha  ou  /* múltiplas linhas */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2D2A192437014EB15729606CF2649F" ma:contentTypeVersion="7" ma:contentTypeDescription="Crie um novo documento." ma:contentTypeScope="" ma:versionID="72c82411141a5c6477fd26844196d284">
  <xsd:schema xmlns:xsd="http://www.w3.org/2001/XMLSchema" xmlns:xs="http://www.w3.org/2001/XMLSchema" xmlns:p="http://schemas.microsoft.com/office/2006/metadata/properties" xmlns:ns2="e054e46c-fd7e-4dc0-b65d-2a9a379c5fba" targetNamespace="http://schemas.microsoft.com/office/2006/metadata/properties" ma:root="true" ma:fieldsID="a40176d61270007612af080dbea1a3d1" ns2:_="">
    <xsd:import namespace="e054e46c-fd7e-4dc0-b65d-2a9a379c5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e46c-fd7e-4dc0-b65d-2a9a379c5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C3C3BA-A664-44C2-89F4-95207E411D99}"/>
</file>

<file path=customXml/itemProps2.xml><?xml version="1.0" encoding="utf-8"?>
<ds:datastoreItem xmlns:ds="http://schemas.openxmlformats.org/officeDocument/2006/customXml" ds:itemID="{1277964B-660D-46DF-A5F7-CAFDFF62844E}"/>
</file>

<file path=customXml/itemProps3.xml><?xml version="1.0" encoding="utf-8"?>
<ds:datastoreItem xmlns:ds="http://schemas.openxmlformats.org/officeDocument/2006/customXml" ds:itemID="{3710471A-39E8-443D-BCB7-9785609B74D3}"/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1298</Words>
  <Application>Microsoft Office PowerPoint</Application>
  <PresentationFormat>Apresentação na tela (16:9)</PresentationFormat>
  <Paragraphs>359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- Fundamentos</dc:title>
  <dc:subject>PptxGenJS Presentation</dc:subject>
  <dc:creator>Professor - Programação Web e Mobile</dc:creator>
  <cp:lastModifiedBy>Flávio Ricardo Dias de Souza</cp:lastModifiedBy>
  <cp:revision>3</cp:revision>
  <dcterms:created xsi:type="dcterms:W3CDTF">2026-03-02T21:23:01Z</dcterms:created>
  <dcterms:modified xsi:type="dcterms:W3CDTF">2026-03-04T11:27:03Z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0x010100F22D2A192437014EB15729606CF2649F</vt:lpwstr>
  </property>
</Properties>
</file>