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18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2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</a:t>
            </a:r>
            <a:r>
              <a:rPr lang="en-US" sz="4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</a:t>
            </a:r>
            <a:r>
              <a:rPr lang="en-US" sz="4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HEAD 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HTML?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yperText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arkup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linguagem de marcação padrão para criar páginas web.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estruturar o conteúdo.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Características: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marcação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hierárquica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abertas e fechadas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estrutura, </a:t>
            </a:r>
            <a:r>
              <a:rPr lang="en-US" sz="15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Interpretada </a:t>
            </a:r>
            <a:r>
              <a:rPr lang="en-US" sz="15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(browser)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Básica do Documento HTML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HTML possui uma estrutura padrão: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3270"/>
            <a:ext cx="6949440" cy="2809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600" dirty="0"/>
              <a:t>&lt;!DOCTYPE 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html</a:t>
            </a:r>
            <a:r>
              <a:rPr lang="pt-BR" sz="1600" dirty="0"/>
              <a:t> </a:t>
            </a:r>
            <a:r>
              <a:rPr lang="pt-BR" sz="1600" dirty="0" err="1" smtClean="0"/>
              <a:t>lang</a:t>
            </a:r>
            <a:r>
              <a:rPr lang="pt-BR" sz="1600" dirty="0" smtClean="0"/>
              <a:t>=</a:t>
            </a:r>
            <a:r>
              <a:rPr lang="pt-BR" sz="1600" dirty="0"/>
              <a:t>"</a:t>
            </a:r>
            <a:r>
              <a:rPr lang="pt-BR" sz="1600" dirty="0" err="1" smtClean="0"/>
              <a:t>pt</a:t>
            </a:r>
            <a:r>
              <a:rPr lang="pt-BR" sz="1600" dirty="0" smtClean="0"/>
              <a:t>-BR</a:t>
            </a:r>
            <a:r>
              <a:rPr lang="pt-BR" sz="1600" dirty="0"/>
              <a:t>"</a:t>
            </a:r>
            <a:r>
              <a:rPr lang="pt-BR" sz="1600" dirty="0" smtClean="0"/>
              <a:t>&gt;</a:t>
            </a:r>
            <a:endParaRPr lang="pt-BR" sz="1600" dirty="0"/>
          </a:p>
          <a:p>
            <a:r>
              <a:rPr lang="pt-BR" sz="1600" dirty="0"/>
              <a:t>&lt;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    &lt;meta </a:t>
            </a:r>
            <a:r>
              <a:rPr lang="pt-BR" sz="1600" dirty="0" err="1"/>
              <a:t>charset</a:t>
            </a:r>
            <a:r>
              <a:rPr lang="pt-BR" sz="1600" dirty="0"/>
              <a:t>="UTF-8"&gt;</a:t>
            </a:r>
          </a:p>
          <a:p>
            <a:r>
              <a:rPr lang="pt-BR" sz="1600" dirty="0"/>
              <a:t>    &lt;meta </a:t>
            </a:r>
            <a:r>
              <a:rPr lang="pt-BR" sz="1600" dirty="0" err="1"/>
              <a:t>name</a:t>
            </a:r>
            <a:r>
              <a:rPr lang="pt-BR" sz="1600" dirty="0"/>
              <a:t>="</a:t>
            </a:r>
            <a:r>
              <a:rPr lang="pt-BR" sz="1600" dirty="0" err="1"/>
              <a:t>viewport</a:t>
            </a:r>
            <a:r>
              <a:rPr lang="pt-BR" sz="1600" dirty="0"/>
              <a:t>" </a:t>
            </a:r>
            <a:r>
              <a:rPr lang="pt-BR" sz="1600" dirty="0" err="1"/>
              <a:t>content</a:t>
            </a:r>
            <a:r>
              <a:rPr lang="pt-BR" sz="1600" dirty="0"/>
              <a:t>="</a:t>
            </a:r>
            <a:r>
              <a:rPr lang="pt-BR" sz="1600" dirty="0" err="1"/>
              <a:t>width</a:t>
            </a:r>
            <a:r>
              <a:rPr lang="pt-BR" sz="1600" dirty="0"/>
              <a:t>=</a:t>
            </a:r>
            <a:r>
              <a:rPr lang="pt-BR" sz="1600" dirty="0" err="1"/>
              <a:t>device-width</a:t>
            </a:r>
            <a:r>
              <a:rPr lang="pt-BR" sz="1600" dirty="0"/>
              <a:t>, </a:t>
            </a:r>
            <a:r>
              <a:rPr lang="pt-BR" sz="1600" dirty="0" err="1"/>
              <a:t>initial-scale</a:t>
            </a:r>
            <a:r>
              <a:rPr lang="pt-BR" sz="1600" dirty="0"/>
              <a:t>=1.0"&gt;</a:t>
            </a:r>
          </a:p>
          <a:p>
            <a:r>
              <a:rPr lang="pt-BR" sz="1600" dirty="0"/>
              <a:t>    &lt;</a:t>
            </a:r>
            <a:r>
              <a:rPr lang="pt-BR" sz="1600" dirty="0" err="1" smtClean="0"/>
              <a:t>title</a:t>
            </a:r>
            <a:r>
              <a:rPr lang="pt-BR" sz="1600" dirty="0" smtClean="0"/>
              <a:t>&gt;Minha Página&lt;/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body</a:t>
            </a:r>
            <a:r>
              <a:rPr lang="pt-BR" sz="1600" dirty="0"/>
              <a:t>&gt;</a:t>
            </a:r>
          </a:p>
          <a:p>
            <a:r>
              <a:rPr lang="pt-BR" sz="1600" dirty="0"/>
              <a:t>    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body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Tag &lt;head&gt;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contém?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da página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(charset, viewport)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para CSS e ícones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JavaScript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content="width=device-width"&gt;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&lt;title&gt;Minha Página&lt;/title&gt;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href="style.css"&gt;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Tag &lt;body&gt;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contém?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conteúdo visível da página: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&lt;h1&gt;Título Principal&lt;/h1&gt;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&lt;p&gt;Um parágrafo de texto.&lt;/p&gt;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src="imagem.jpg"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alt="Descrição"&gt;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href="link.html"&gt;Link&lt;/a&gt;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(Linhagem) do HTML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HTML possui uma estrutura em árvore (DOM - Document Object Model):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2923" y="1645920"/>
            <a:ext cx="2473518" cy="548640"/>
          </a:xfrm>
          <a:prstGeom prst="rect">
            <a:avLst/>
          </a:prstGeom>
          <a:solidFill>
            <a:srgbClr val="065A82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8816" y="2197210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832" y="2176006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6314" y="2541766"/>
            <a:ext cx="2381414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4150" y="2573573"/>
            <a:ext cx="24132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0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3383280"/>
            <a:ext cx="146304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3383280"/>
            <a:ext cx="146304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39910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23113" y="3108959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3881" y="310896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383280"/>
            <a:ext cx="109728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06441" y="3383279"/>
            <a:ext cx="109728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1" y="33726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40880" y="3383280"/>
            <a:ext cx="109728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importantes: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pai: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 é pai de &lt;head&gt; e &lt;body&gt;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filhos: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 e &lt;meta&gt; são filhos de &lt;head&gt;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Aninhamento: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devem ser abertas e fechadas na ordem correta</a:t>
            </a:r>
            <a:endParaRPr lang="en-US" sz="1400" dirty="0"/>
          </a:p>
        </p:txBody>
      </p:sp>
      <p:sp>
        <p:nvSpPr>
          <p:cNvPr id="31" name="Shape 7"/>
          <p:cNvSpPr/>
          <p:nvPr/>
        </p:nvSpPr>
        <p:spPr>
          <a:xfrm>
            <a:off x="1724110" y="2560319"/>
            <a:ext cx="2092516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2" name="Text 8"/>
          <p:cNvSpPr/>
          <p:nvPr/>
        </p:nvSpPr>
        <p:spPr>
          <a:xfrm>
            <a:off x="1737360" y="2560319"/>
            <a:ext cx="207926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Prático: Hello World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HTML completo executável no navegador: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39"/>
            <a:ext cx="8229600" cy="3327621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 content="width=device-width, initial-scale=1.0"&gt;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&lt;title&gt;Minha Primeira Página&lt;/title&gt;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&lt;h1&gt;Hello World!&lt;/h1&gt;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&lt;p&gt;Esta é minha primeira </a:t>
            </a:r>
            <a:r>
              <a:rPr lang="en-US" sz="1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r>
              <a:rPr lang="en-US" sz="1200" dirty="0" smtClean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HTML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&lt;p&gt;Bem-vindo ao mundo da programação web!&lt;/p&gt;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</a:t>
            </a:r>
            <a:r>
              <a:rPr lang="en-US" sz="1200" dirty="0" smtClean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br>
              <a:rPr lang="en-US" sz="1200" dirty="0" smtClean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Executar no Navegador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45597"/>
            <a:ext cx="8229600" cy="1057523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39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1: Criar o Arquivo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um editor de texto (Bloco de Notas, VS Code, Sublime, etc.)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 código do slide anterior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o arquivo com o nome 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6243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2: Abrir no Navegador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o arquivo 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seu computador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duas vezes no arquivo OU clique com botão direito &gt; Abrir com &gt; Navegador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00399"/>
            <a:ext cx="8229600" cy="1451113"/>
          </a:xfrm>
          <a:prstGeom prst="rect">
            <a:avLst/>
          </a:prstGeom>
          <a:solidFill>
            <a:srgbClr val="FFF9E6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809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Resultado Esperado: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verá uma página com: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 grande "Hello World!"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Dois parágrafos de texto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 aba do navegador aparecerá "Minha Primeira Página"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 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HTML é uma linguagem de marcação estruturada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tag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contém metadados e informações do documento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tag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contém todo o conteúdo visível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hierarquia HTML organiza elementos em estrutura de árvore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Tags HTML de conteúdo (h1-h6, p, div, span)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078" y="213625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81950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983CC21-C4AC-4A57-AADB-9EDB5FD77A8D}"/>
</file>

<file path=customXml/itemProps2.xml><?xml version="1.0" encoding="utf-8"?>
<ds:datastoreItem xmlns:ds="http://schemas.openxmlformats.org/officeDocument/2006/customXml" ds:itemID="{B9BBCED6-4187-432B-903C-0D087F4030AA}"/>
</file>

<file path=customXml/itemProps3.xml><?xml version="1.0" encoding="utf-8"?>
<ds:datastoreItem xmlns:ds="http://schemas.openxmlformats.org/officeDocument/2006/customXml" ds:itemID="{AFFEDD96-C657-44B1-9520-D280BF22BA3F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673</Words>
  <Application>Microsoft Office PowerPoint</Application>
  <PresentationFormat>Apresentação na tela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HTML - Tags HEAD e BODY</dc:title>
  <dc:subject>PptxGenJS Presentation</dc:subject>
  <dc:creator>Professor - Programação Web e Mobile</dc:creator>
  <cp:lastModifiedBy>Flávio Ricardo Dias de Souza</cp:lastModifiedBy>
  <cp:revision>5</cp:revision>
  <dcterms:created xsi:type="dcterms:W3CDTF">2026-02-09T18:00:49Z</dcterms:created>
  <dcterms:modified xsi:type="dcterms:W3CDTF">2026-02-09T18:24:31Z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